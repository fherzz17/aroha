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Good morning investors. We are building AROHA. The Indian tech ecosystem employs over 5.4 million engineers, yet both talent and enterprises evaluate skills using 20-year-old, rear-view-mirror methods. AROHA is the objective valuation and intelligence layer that connects what skills are learned to what they are actually worth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Right now, an engineer wanting to know what their skills are worth has two broken options: look at outdated crowd-sourced salary averages, or take an assessment from an EdTech company whose only goal is to sell them an expensive course. For enterprise leaders, it's worse—they are spending millions reskilling thousands of engineers into AI, with zero mathematical proof of market capability. This is the disconnect AROHA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Here is how the product actually works in 3 simple steps: First, a developer or an enterprise HR uploads their current skills—say, Python and SQL—and selects a target role. Our NLP pipeline canonicalizes those skills in milliseconds without expensive LLM API calls. Second, our engine cross-references their profile against 17,400+ active job postings and computes their SkillPulse score from 0 to 100. Third, instead of selling them a ₹2 Lakh course, we output pure mathematical truth: their current market valuation, their hike probability, and the exact top 3 skills that will increase their salary the fastest.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AROHA is built on 4 core modules. Module 1 is the SkillPulse Valuation Card—think of it as the CIBIL score for engineering capability. Module 2 is our 'What-If' Salary Simulator: an engineer toggles skills and instantly sees their compensation curve shift. Module 3 is our Skill Gap Radar, which gives them an empirical roadmap showing that learning Statistics yields a 3.2x higher salary boost than learning another web framework. And Module 4 is our high-ACV enterprise engine: Global Capability Centers use our audit heatmaps to evaluate thousands of engineers and measure real reskilling ROI.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The timing couldn't be better. India's GCC ecosystem is expanding rapidly, and every single technology company is facing an urgent mandate: transition legacy software engineers into AI and MLOps. Our initial beachhead is the Indian data science and cloud engineering workforce—a $120M immediate opportunity, scaling into the broader $1.8B digital talent ecosystem.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We monetize through a high-margin enterprise SaaS model selling workforce intelligence to GCCs and IT enterprises, complemented by high-volume API licensing to job portals, and a high-converting B2C freemium tier for ambitious engineers looking to negotiate higher compensation.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AmbitionBox shows where people were. Scaler shows what they want to sell you. Eightfold is an expensive black box. AROHA is the neutral, transparent GPS that sits in the middle as the single source of truth for skill value.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We are raising $600k to expand our data ingestion to over 500,000 records, partner with 2 major tech talent marketplaces, and sign our first 20 enterprise GCC customers. We already have a working, tested product and validated machine learning models. We invite you to join us in building India's definitive talent intelligence infrastructure.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743200"/>
          </a:xfrm>
          <a:prstGeom prst="rect">
            <a:avLst/>
          </a:prstGeom>
          <a:noFill/>
        </p:spPr>
        <p:txBody>
          <a:bodyPr wrap="square">
            <a:spAutoFit/>
          </a:bodyPr>
          <a:lstStyle/>
          <a:p>
            <a:pPr>
              <a:defRPr sz="5600" b="1">
                <a:solidFill>
                  <a:srgbClr val="38BDF8"/>
                </a:solidFill>
                <a:latin typeface="Calibri"/>
              </a:defRPr>
            </a:pPr>
            <a:r>
              <a:t>AROHA</a:t>
            </a:r>
          </a:p>
          <a:p>
            <a:pPr>
              <a:defRPr sz="2800" b="1">
                <a:solidFill>
                  <a:srgbClr val="F1F5F9"/>
                </a:solidFill>
                <a:latin typeface="Calibri"/>
              </a:defRPr>
            </a:pPr>
            <a:r>
              <a:t>The Intelligence &amp; Valuation Layer for Tech Skills</a:t>
            </a:r>
          </a:p>
          <a:p>
            <a:pPr>
              <a:defRPr sz="1600">
                <a:solidFill>
                  <a:srgbClr val="94A3B8"/>
                </a:solidFill>
                <a:latin typeface="Calibri"/>
              </a:defRPr>
            </a:pPr>
            <a:r>
              <a:t>Eliminating speculation in career progression, hiring, and enterprise reskilling.</a:t>
            </a:r>
          </a:p>
        </p:txBody>
      </p:sp>
      <p:sp>
        <p:nvSpPr>
          <p:cNvPr id="4" name="Rounded Rectangle 3"/>
          <p:cNvSpPr/>
          <p:nvPr/>
        </p:nvSpPr>
        <p:spPr>
          <a:xfrm>
            <a:off x="914400" y="4114800"/>
            <a:ext cx="3291840" cy="210312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97680"/>
            <a:ext cx="2926080" cy="1737360"/>
          </a:xfrm>
          <a:prstGeom prst="rect">
            <a:avLst/>
          </a:prstGeom>
          <a:noFill/>
        </p:spPr>
        <p:txBody>
          <a:bodyPr wrap="square" lIns="0" tIns="0" rIns="0" bIns="0">
            <a:spAutoFit/>
          </a:bodyPr>
          <a:lstStyle/>
          <a:p>
            <a:pPr>
              <a:defRPr sz="3200" b="1">
                <a:solidFill>
                  <a:srgbClr val="38BDF8"/>
                </a:solidFill>
              </a:defRPr>
            </a:pPr>
            <a:r>
              <a:t>17,400+</a:t>
            </a:r>
          </a:p>
          <a:p>
            <a:pPr>
              <a:defRPr sz="1400" b="1">
                <a:solidFill>
                  <a:srgbClr val="F1F5F9"/>
                </a:solidFill>
              </a:defRPr>
            </a:pPr>
            <a:r>
              <a:t>Job Postings Benchmark</a:t>
            </a:r>
          </a:p>
          <a:p>
            <a:pPr>
              <a:defRPr sz="1100">
                <a:solidFill>
                  <a:srgbClr val="94A3B8"/>
                </a:solidFill>
              </a:defRPr>
            </a:pPr>
            <a:r>
              <a:t>Canonicalized Indian tech market dataset across all domains</a:t>
            </a:r>
          </a:p>
        </p:txBody>
      </p:sp>
      <p:sp>
        <p:nvSpPr>
          <p:cNvPr id="6" name="Rounded Rectangle 5"/>
          <p:cNvSpPr/>
          <p:nvPr/>
        </p:nvSpPr>
        <p:spPr>
          <a:xfrm>
            <a:off x="4480560" y="4114800"/>
            <a:ext cx="3291840" cy="210312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4297680"/>
            <a:ext cx="2926080" cy="1737360"/>
          </a:xfrm>
          <a:prstGeom prst="rect">
            <a:avLst/>
          </a:prstGeom>
          <a:noFill/>
        </p:spPr>
        <p:txBody>
          <a:bodyPr wrap="square" lIns="0" tIns="0" rIns="0" bIns="0">
            <a:spAutoFit/>
          </a:bodyPr>
          <a:lstStyle/>
          <a:p>
            <a:pPr>
              <a:defRPr sz="3200" b="1">
                <a:solidFill>
                  <a:srgbClr val="10B981"/>
                </a:solidFill>
              </a:defRPr>
            </a:pPr>
            <a:r>
              <a:t>88.6%</a:t>
            </a:r>
          </a:p>
          <a:p>
            <a:pPr>
              <a:defRPr sz="1400" b="1">
                <a:solidFill>
                  <a:srgbClr val="F1F5F9"/>
                </a:solidFill>
              </a:defRPr>
            </a:pPr>
            <a:r>
              <a:t>Salary Hike Accuracy</a:t>
            </a:r>
          </a:p>
          <a:p>
            <a:pPr>
              <a:defRPr sz="1100">
                <a:solidFill>
                  <a:srgbClr val="94A3B8"/>
                </a:solidFill>
              </a:defRPr>
            </a:pPr>
            <a:r>
              <a:t>Supervised ML predicting salary hike readiness from skill vectors</a:t>
            </a:r>
          </a:p>
        </p:txBody>
      </p:sp>
      <p:sp>
        <p:nvSpPr>
          <p:cNvPr id="8" name="Rounded Rectangle 7"/>
          <p:cNvSpPr/>
          <p:nvPr/>
        </p:nvSpPr>
        <p:spPr>
          <a:xfrm>
            <a:off x="8046720" y="4114800"/>
            <a:ext cx="3291840" cy="210312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4297680"/>
            <a:ext cx="2926080" cy="1737360"/>
          </a:xfrm>
          <a:prstGeom prst="rect">
            <a:avLst/>
          </a:prstGeom>
          <a:noFill/>
        </p:spPr>
        <p:txBody>
          <a:bodyPr wrap="square" lIns="0" tIns="0" rIns="0" bIns="0">
            <a:spAutoFit/>
          </a:bodyPr>
          <a:lstStyle/>
          <a:p>
            <a:pPr>
              <a:defRPr sz="3200" b="1">
                <a:solidFill>
                  <a:srgbClr val="A855F7"/>
                </a:solidFill>
              </a:defRPr>
            </a:pPr>
            <a:r>
              <a:t>SkillPulse™</a:t>
            </a:r>
          </a:p>
          <a:p>
            <a:pPr>
              <a:defRPr sz="1400" b="1">
                <a:solidFill>
                  <a:srgbClr val="F1F5F9"/>
                </a:solidFill>
              </a:defRPr>
            </a:pPr>
            <a:r>
              <a:t>0–100 Valuation Index</a:t>
            </a:r>
          </a:p>
          <a:p>
            <a:pPr>
              <a:defRPr sz="1100">
                <a:solidFill>
                  <a:srgbClr val="94A3B8"/>
                </a:solidFill>
              </a:defRPr>
            </a:pPr>
            <a:r>
              <a:t>Objective, explainable score calculating real compensation 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02 // AROHA INVESTOR PITCH</a:t>
            </a:r>
          </a:p>
          <a:p>
            <a:pPr>
              <a:defRPr sz="2400" b="1">
                <a:solidFill>
                  <a:srgbClr val="F1F5F9"/>
                </a:solidFill>
                <a:latin typeface="Calibri"/>
              </a:defRPr>
            </a:pPr>
            <a:r>
              <a:t>The Trillion-Dollar Disconnect in Technical Talent</a:t>
            </a:r>
          </a:p>
          <a:p>
            <a:pPr>
              <a:defRPr sz="1200">
                <a:solidFill>
                  <a:srgbClr val="94A3B8"/>
                </a:solidFill>
                <a:latin typeface="Calibri"/>
              </a:defRPr>
            </a:pPr>
            <a:r>
              <a:t>Three structural failure points paralyzing modern career and workforce decisions</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F59E0B"/>
                </a:solidFill>
                <a:latin typeface="Calibri"/>
              </a:defRPr>
            </a:pPr>
            <a:r>
              <a:t>1. The Rear-View Mirror Trap</a:t>
            </a:r>
          </a:p>
          <a:p>
            <a:pPr>
              <a:defRPr sz="1200" b="1">
                <a:solidFill>
                  <a:srgbClr val="F1F5F9"/>
                </a:solidFill>
              </a:defRPr>
            </a:pPr>
            <a:r>
              <a:t>Salary Portals (AmbitionBox, Glassdoor)</a:t>
            </a:r>
          </a:p>
          <a:p>
            <a:pPr>
              <a:defRPr sz="1100">
                <a:solidFill>
                  <a:srgbClr val="94A3B8"/>
                </a:solidFill>
              </a:defRPr>
            </a:pPr>
            <a:r>
              <a:t>• Historical averages reflect where people WERE 2-3 years ago, not what skills are worth TODAY.</a:t>
            </a:r>
            <a:br/>
            <a:r>
              <a:t>• Purely crowd-sourced with zero validation against active market postings.</a:t>
            </a:r>
            <a:br/>
            <a:r>
              <a:t>• Incapable of answering: 'If I learn PyTorch, what is my exact salary upside?'</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2. The Incentive Conflict</a:t>
            </a:r>
          </a:p>
          <a:p>
            <a:pPr>
              <a:defRPr sz="1200" b="1">
                <a:solidFill>
                  <a:srgbClr val="F1F5F9"/>
                </a:solidFill>
              </a:defRPr>
            </a:pPr>
            <a:r>
              <a:t>EdTech Giants (Scaler, UpGrad, Coursera)</a:t>
            </a:r>
          </a:p>
          <a:p>
            <a:pPr>
              <a:defRPr sz="1100">
                <a:solidFill>
                  <a:srgbClr val="94A3B8"/>
                </a:solidFill>
              </a:defRPr>
            </a:pPr>
            <a:r>
              <a:t>• Assessments exist solely as top-of-funnel lead generation to sell ₹1.5L–₹3L bootcamps.</a:t>
            </a:r>
            <a:br/>
            <a:r>
              <a:t>• Severe conflict of interest: platforms grade users down to sell courses.</a:t>
            </a:r>
            <a:br/>
            <a:r>
              <a:t>• Course completion certificates &amp; badges carry zero quantifiable market salary signal.</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3. Enterprise Reskilling Blind Spot</a:t>
            </a:r>
          </a:p>
          <a:p>
            <a:pPr>
              <a:defRPr sz="1200" b="1">
                <a:solidFill>
                  <a:srgbClr val="F1F5F9"/>
                </a:solidFill>
              </a:defRPr>
            </a:pPr>
            <a:r>
              <a:t>GCCs &amp; Global IT Enterprises</a:t>
            </a:r>
          </a:p>
          <a:p>
            <a:pPr>
              <a:defRPr sz="1100">
                <a:solidFill>
                  <a:srgbClr val="94A3B8"/>
                </a:solidFill>
              </a:defRPr>
            </a:pPr>
            <a:r>
              <a:t>• Companies spending billions retraining thousands into AI, MLOps, and Cloud.</a:t>
            </a:r>
            <a:br/>
            <a:r>
              <a:t>• Completely blind to workforce skill readiness and true market capability.</a:t>
            </a:r>
            <a:br/>
            <a:r>
              <a:t>• Zero empirical metric to evaluate whether L&amp;D budgets generate real organizational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03 // AROHA INVESTOR PITCH</a:t>
            </a:r>
          </a:p>
          <a:p>
            <a:pPr>
              <a:defRPr sz="2400" b="1">
                <a:solidFill>
                  <a:srgbClr val="F1F5F9"/>
                </a:solidFill>
                <a:latin typeface="Calibri"/>
              </a:defRPr>
            </a:pPr>
            <a:r>
              <a:t>The Product Experience: 3-Step Valuation Journey</a:t>
            </a:r>
          </a:p>
          <a:p>
            <a:pPr>
              <a:defRPr sz="1200">
                <a:solidFill>
                  <a:srgbClr val="94A3B8"/>
                </a:solidFill>
                <a:latin typeface="Calibri"/>
              </a:defRPr>
            </a:pPr>
            <a:r>
              <a:t>How candidates and enterprises interact with AROHA: From raw input to quantified salary ROI</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STEP 1: Input Profile &amp; Target Role</a:t>
            </a:r>
          </a:p>
          <a:p>
            <a:pPr>
              <a:defRPr sz="1200" b="1">
                <a:solidFill>
                  <a:srgbClr val="F1F5F9"/>
                </a:solidFill>
              </a:defRPr>
            </a:pPr>
            <a:r>
              <a:t>Data Ingestion &amp; NLP Normalization</a:t>
            </a:r>
          </a:p>
          <a:p>
            <a:br/>
            <a:pPr>
              <a:defRPr sz="1100">
                <a:solidFill>
                  <a:srgbClr val="94A3B8"/>
                </a:solidFill>
              </a:defRPr>
            </a:pPr>
            <a:r>
              <a:t>• User submits current technical skills (e.g., Python, SQL, Pandas) &amp; target aspiration (e.g., Data Scientist).</a:t>
            </a:r>
            <a:br/>
            <a:br/>
            <a:r>
              <a:t>• Air-Gapped NLP Canonicalizer resolves 1,200+ messy acronyms, aliases &amp; framework variations into clean standardized entities.</a:t>
            </a:r>
            <a:br/>
            <a:br/>
            <a:r>
              <a:t>• Zero third-party LLM latency or privacy leakage.</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STEP 2: Benchmark &amp; ML Scoring</a:t>
            </a:r>
          </a:p>
          <a:p>
            <a:pPr>
              <a:defRPr sz="1200" b="1">
                <a:solidFill>
                  <a:srgbClr val="F1F5F9"/>
                </a:solidFill>
              </a:defRPr>
            </a:pPr>
            <a:r>
              <a:t>SkillPulse™ Mathematical Processing</a:t>
            </a:r>
          </a:p>
          <a:p>
            <a:br/>
            <a:pPr>
              <a:defRPr sz="1100">
                <a:solidFill>
                  <a:srgbClr val="94A3B8"/>
                </a:solidFill>
              </a:defRPr>
            </a:pPr>
            <a:r>
              <a:t>• Profile benchmarked against 17,400+ active Indian tech job postings &amp; compensation curves.</a:t>
            </a:r>
            <a:br/>
            <a:br/>
            <a:r>
              <a:t>• SkillPulse™ Formula runs:</a:t>
            </a:r>
            <a:br/>
            <a:r>
              <a:t>  0.35(Demand) + 0.25(Versatility) + 0.25(Salary) + 0.15(Frontier Signal).</a:t>
            </a:r>
            <a:br/>
            <a:br/>
            <a:r>
              <a:t>• Supervised ML (88.6% accuracy) calculates exact salary hike probability.</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10B981"/>
                </a:solidFill>
                <a:latin typeface="Calibri"/>
              </a:defRPr>
            </a:pPr>
            <a:r>
              <a:t>STEP 3: Actionable Valuation &amp; Roadmap</a:t>
            </a:r>
          </a:p>
          <a:p>
            <a:pPr>
              <a:defRPr sz="1200" b="1">
                <a:solidFill>
                  <a:srgbClr val="F1F5F9"/>
                </a:solidFill>
              </a:defRPr>
            </a:pPr>
            <a:r>
              <a:t>Quantified Output (Zero Course Selling)</a:t>
            </a:r>
          </a:p>
          <a:p>
            <a:br/>
            <a:pPr>
              <a:defRPr sz="1100">
                <a:solidFill>
                  <a:srgbClr val="94A3B8"/>
                </a:solidFill>
              </a:defRPr>
            </a:pPr>
            <a:r>
              <a:t>• SkillPulse™ Score (0–100): Transparent market rating (e.g. 74/100).</a:t>
            </a:r>
            <a:br/>
            <a:br/>
            <a:r>
              <a:t>• Real-Time Salary Benchmark: Current market worth (₹14.2 LPA vs ₹12.27L mean).</a:t>
            </a:r>
            <a:br/>
            <a:br/>
            <a:r>
              <a:t>• Prioritized Skill Gap Radar: Top 3 skills ranked by direct rupee ROI (e.g. +₹4.5L for Statistics, +₹3.2L for 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04 // AROHA INVESTOR PITCH</a:t>
            </a:r>
          </a:p>
          <a:p>
            <a:pPr>
              <a:defRPr sz="2400" b="1">
                <a:solidFill>
                  <a:srgbClr val="F1F5F9"/>
                </a:solidFill>
                <a:latin typeface="Calibri"/>
              </a:defRPr>
            </a:pPr>
            <a:r>
              <a:t>Four Core Product Modules Driving B2C &amp; B2B Value</a:t>
            </a:r>
          </a:p>
          <a:p>
            <a:pPr>
              <a:defRPr sz="1200">
                <a:solidFill>
                  <a:srgbClr val="94A3B8"/>
                </a:solidFill>
                <a:latin typeface="Calibri"/>
              </a:defRPr>
            </a:pPr>
            <a:r>
              <a:t>Modular architecture powering individual career navigation and enterprise workforce intelligence</a:t>
            </a:r>
          </a:p>
        </p:txBody>
      </p:sp>
      <p:sp>
        <p:nvSpPr>
          <p:cNvPr id="4" name="Rounded Rectangle 3"/>
          <p:cNvSpPr/>
          <p:nvPr/>
        </p:nvSpPr>
        <p:spPr>
          <a:xfrm>
            <a:off x="731520" y="1645920"/>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92040" cy="1783080"/>
          </a:xfrm>
          <a:prstGeom prst="rect">
            <a:avLst/>
          </a:prstGeom>
          <a:noFill/>
        </p:spPr>
        <p:txBody>
          <a:bodyPr wrap="square" lIns="0" tIns="0" rIns="0" bIns="0">
            <a:spAutoFit/>
          </a:bodyPr>
          <a:lstStyle/>
          <a:p>
            <a:pPr>
              <a:defRPr sz="1600" b="1">
                <a:solidFill>
                  <a:srgbClr val="38BDF8"/>
                </a:solidFill>
                <a:latin typeface="Calibri"/>
              </a:defRPr>
            </a:pPr>
            <a:r>
              <a:t>1. SkillPulse™ Valuation Card</a:t>
            </a:r>
          </a:p>
          <a:p>
            <a:pPr>
              <a:defRPr sz="1200" b="1">
                <a:solidFill>
                  <a:srgbClr val="F1F5F9"/>
                </a:solidFill>
              </a:defRPr>
            </a:pPr>
            <a:r>
              <a:t>The 'CIBIL Score' for Tech Skills</a:t>
            </a:r>
          </a:p>
          <a:p>
            <a:br/>
            <a:pPr>
              <a:defRPr sz="1100">
                <a:solidFill>
                  <a:srgbClr val="94A3B8"/>
                </a:solidFill>
              </a:defRPr>
            </a:pPr>
            <a:r>
              <a:t>• Single 0–100 index measuring real market capability.</a:t>
            </a:r>
            <a:br/>
            <a:r>
              <a:t>• Accepted by HR and compensation committees.</a:t>
            </a:r>
            <a:br/>
            <a:r>
              <a:t>• Separates empirical facts [OBSERVED] from predictions [MODEL OUTPUT].</a:t>
            </a:r>
          </a:p>
        </p:txBody>
      </p:sp>
      <p:sp>
        <p:nvSpPr>
          <p:cNvPr id="6" name="Rounded Rectangle 5"/>
          <p:cNvSpPr/>
          <p:nvPr/>
        </p:nvSpPr>
        <p:spPr>
          <a:xfrm>
            <a:off x="6172200" y="1645920"/>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828800"/>
            <a:ext cx="4892040" cy="1783080"/>
          </a:xfrm>
          <a:prstGeom prst="rect">
            <a:avLst/>
          </a:prstGeom>
          <a:noFill/>
        </p:spPr>
        <p:txBody>
          <a:bodyPr wrap="square" lIns="0" tIns="0" rIns="0" bIns="0">
            <a:spAutoFit/>
          </a:bodyPr>
          <a:lstStyle/>
          <a:p>
            <a:pPr>
              <a:defRPr sz="1600" b="1">
                <a:solidFill>
                  <a:srgbClr val="10B981"/>
                </a:solidFill>
                <a:latin typeface="Calibri"/>
              </a:defRPr>
            </a:pPr>
            <a:r>
              <a:t>2. 'What-If' Salary Simulator</a:t>
            </a:r>
          </a:p>
          <a:p>
            <a:pPr>
              <a:defRPr sz="1200" b="1">
                <a:solidFill>
                  <a:srgbClr val="F1F5F9"/>
                </a:solidFill>
              </a:defRPr>
            </a:pPr>
            <a:r>
              <a:t>Interactive Compensation Sandbox</a:t>
            </a:r>
          </a:p>
          <a:p>
            <a:br/>
            <a:pPr>
              <a:defRPr sz="1100">
                <a:solidFill>
                  <a:srgbClr val="94A3B8"/>
                </a:solidFill>
              </a:defRPr>
            </a:pPr>
            <a:r>
              <a:t>• Engineers toggle skills to simulate instant ₹ salary uplift.</a:t>
            </a:r>
            <a:br/>
            <a:r>
              <a:t>• Continuous salary curves across 5 experience tiers (₹3.8L to ₹26.2L+ LPA).</a:t>
            </a:r>
            <a:br/>
            <a:r>
              <a:t>• Direct answer to: 'If I learn PyTorch, what is my upside?'</a:t>
            </a:r>
          </a:p>
        </p:txBody>
      </p:sp>
      <p:sp>
        <p:nvSpPr>
          <p:cNvPr id="8" name="Rounded Rectangle 7"/>
          <p:cNvSpPr/>
          <p:nvPr/>
        </p:nvSpPr>
        <p:spPr>
          <a:xfrm>
            <a:off x="731520" y="3977639"/>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60519"/>
            <a:ext cx="4892040" cy="1783080"/>
          </a:xfrm>
          <a:prstGeom prst="rect">
            <a:avLst/>
          </a:prstGeom>
          <a:noFill/>
        </p:spPr>
        <p:txBody>
          <a:bodyPr wrap="square" lIns="0" tIns="0" rIns="0" bIns="0">
            <a:spAutoFit/>
          </a:bodyPr>
          <a:lstStyle/>
          <a:p>
            <a:pPr>
              <a:defRPr sz="1600" b="1">
                <a:solidFill>
                  <a:srgbClr val="A855F7"/>
                </a:solidFill>
                <a:latin typeface="Calibri"/>
              </a:defRPr>
            </a:pPr>
            <a:r>
              <a:t>3. Dynamic Skill Gap Radar</a:t>
            </a:r>
          </a:p>
          <a:p>
            <a:pPr>
              <a:defRPr sz="1200" b="1">
                <a:solidFill>
                  <a:srgbClr val="F1F5F9"/>
                </a:solidFill>
              </a:defRPr>
            </a:pPr>
            <a:r>
              <a:t>Personalized ROI-Ranked Roadmap</a:t>
            </a:r>
          </a:p>
          <a:p>
            <a:br/>
            <a:pPr>
              <a:defRPr sz="1100">
                <a:solidFill>
                  <a:srgbClr val="94A3B8"/>
                </a:solidFill>
              </a:defRPr>
            </a:pPr>
            <a:r>
              <a:t>• Ranks missing competencies by salary ROI, demand, &amp; difficulty.</a:t>
            </a:r>
            <a:br/>
            <a:r>
              <a:t>• Statistics (+1.398 LR coefficient) identified as top driver.</a:t>
            </a:r>
            <a:br/>
            <a:r>
              <a:t>• Zero EdTech course-selling bias or sponsored content.</a:t>
            </a:r>
          </a:p>
        </p:txBody>
      </p:sp>
      <p:sp>
        <p:nvSpPr>
          <p:cNvPr id="10" name="Rounded Rectangle 9"/>
          <p:cNvSpPr/>
          <p:nvPr/>
        </p:nvSpPr>
        <p:spPr>
          <a:xfrm>
            <a:off x="6172200" y="3977639"/>
            <a:ext cx="5257800" cy="214884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160519"/>
            <a:ext cx="4892040" cy="1783080"/>
          </a:xfrm>
          <a:prstGeom prst="rect">
            <a:avLst/>
          </a:prstGeom>
          <a:noFill/>
        </p:spPr>
        <p:txBody>
          <a:bodyPr wrap="square" lIns="0" tIns="0" rIns="0" bIns="0">
            <a:spAutoFit/>
          </a:bodyPr>
          <a:lstStyle/>
          <a:p>
            <a:pPr>
              <a:defRPr sz="1600" b="1">
                <a:solidFill>
                  <a:srgbClr val="F59E0B"/>
                </a:solidFill>
                <a:latin typeface="Calibri"/>
              </a:defRPr>
            </a:pPr>
            <a:r>
              <a:t>4. Enterprise Workforce Audit</a:t>
            </a:r>
          </a:p>
          <a:p>
            <a:pPr>
              <a:defRPr sz="1200" b="1">
                <a:solidFill>
                  <a:srgbClr val="F1F5F9"/>
                </a:solidFill>
              </a:defRPr>
            </a:pPr>
            <a:r>
              <a:t>B2B L&amp;D &amp; Reskilling Intelligence</a:t>
            </a:r>
          </a:p>
          <a:p>
            <a:br/>
            <a:pPr>
              <a:defRPr sz="1100">
                <a:solidFill>
                  <a:srgbClr val="94A3B8"/>
                </a:solidFill>
              </a:defRPr>
            </a:pPr>
            <a:r>
              <a:t>• Team skill heatmaps for GCCs &amp; IT services giants.</a:t>
            </a:r>
            <a:br/>
            <a:r>
              <a:t>• Pinpoints organizational GenAI/Cloud readiness deficits.</a:t>
            </a:r>
            <a:br/>
            <a:r>
              <a:t>• Delivers empirical audit of L&amp;D reskilling ROI.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05 // AROHA INVESTOR PITCH</a:t>
            </a:r>
          </a:p>
          <a:p>
            <a:pPr>
              <a:defRPr sz="2400" b="1">
                <a:solidFill>
                  <a:srgbClr val="F1F5F9"/>
                </a:solidFill>
                <a:latin typeface="Calibri"/>
              </a:defRPr>
            </a:pPr>
            <a:r>
              <a:t>Massive Addressable Market Fueled by AI Transformation</a:t>
            </a:r>
          </a:p>
          <a:p>
            <a:pPr>
              <a:defRPr sz="1200">
                <a:solidFill>
                  <a:srgbClr val="94A3B8"/>
                </a:solidFill>
                <a:latin typeface="Calibri"/>
              </a:defRPr>
            </a:pPr>
            <a:r>
              <a:t>Riding the tectonic shift in technical hiring and enterprise AI adoption</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TAM: $6.2 Billion</a:t>
            </a:r>
          </a:p>
          <a:p>
            <a:pPr>
              <a:defRPr sz="1300" b="1">
                <a:solidFill>
                  <a:srgbClr val="F1F5F9"/>
                </a:solidFill>
              </a:defRPr>
            </a:pPr>
            <a:r>
              <a:t>Global Workforce Analytics &amp; Talent Intelligence</a:t>
            </a:r>
          </a:p>
          <a:p>
            <a:br/>
            <a:pPr>
              <a:defRPr sz="1100">
                <a:solidFill>
                  <a:srgbClr val="94A3B8"/>
                </a:solidFill>
              </a:defRPr>
            </a:pPr>
            <a:r>
              <a:t>16.4% CAGR globally as enterprises shift away from static job descriptions to skills-based organizations.</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10B981"/>
                </a:solidFill>
                <a:latin typeface="Calibri"/>
              </a:defRPr>
            </a:pPr>
            <a:r>
              <a:t>SAM: $1.8 Billion</a:t>
            </a:r>
          </a:p>
          <a:p>
            <a:pPr>
              <a:defRPr sz="1300" b="1">
                <a:solidFill>
                  <a:srgbClr val="F1F5F9"/>
                </a:solidFill>
              </a:defRPr>
            </a:pPr>
            <a:r>
              <a:t>Indian Tech Workforce &amp; Corporate Reskilling</a:t>
            </a:r>
          </a:p>
          <a:p>
            <a:br/>
            <a:pPr>
              <a:defRPr sz="1100">
                <a:solidFill>
                  <a:srgbClr val="94A3B8"/>
                </a:solidFill>
              </a:defRPr>
            </a:pPr>
            <a:r>
              <a:t>5.4M active IT engineers; 1,580+ Global Capability Centers (GCCs) in India navigating mandatory GenAI transitions.</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SOM: $120 Million</a:t>
            </a:r>
          </a:p>
          <a:p>
            <a:pPr>
              <a:defRPr sz="1300" b="1">
                <a:solidFill>
                  <a:srgbClr val="F1F5F9"/>
                </a:solidFill>
              </a:defRPr>
            </a:pPr>
            <a:r>
              <a:t>Initial Beachhead (Data, AI &amp; Cloud Roles)</a:t>
            </a:r>
          </a:p>
          <a:p>
            <a:br/>
            <a:pPr>
              <a:defRPr sz="1100">
                <a:solidFill>
                  <a:srgbClr val="94A3B8"/>
                </a:solidFill>
              </a:defRPr>
            </a:pPr>
            <a:r>
              <a:t>Targeting 450,000+ data science, cloud, and AI practitioners across Tier-1 tech hubs (Bengaluru, Hyderabad, Pune, NCR).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06 // AROHA INVESTOR PITCH</a:t>
            </a:r>
          </a:p>
          <a:p>
            <a:pPr>
              <a:defRPr sz="2400" b="1">
                <a:solidFill>
                  <a:srgbClr val="F1F5F9"/>
                </a:solidFill>
                <a:latin typeface="Calibri"/>
              </a:defRPr>
            </a:pPr>
            <a:r>
              <a:t>Three High-Margin, Complementary Revenue Engines</a:t>
            </a:r>
          </a:p>
          <a:p>
            <a:pPr>
              <a:defRPr sz="1200">
                <a:solidFill>
                  <a:srgbClr val="94A3B8"/>
                </a:solidFill>
                <a:latin typeface="Calibri"/>
              </a:defRPr>
            </a:pPr>
            <a:r>
              <a:t>Diversified monetization spanning high-ACV enterprise SaaS to programmatic API licensing</a:t>
            </a:r>
          </a:p>
        </p:txBody>
      </p:sp>
      <p:sp>
        <p:nvSpPr>
          <p:cNvPr id="4" name="Rounded Rectangle 3"/>
          <p:cNvSpPr/>
          <p:nvPr/>
        </p:nvSpPr>
        <p:spPr>
          <a:xfrm>
            <a:off x="73152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06240"/>
          </a:xfrm>
          <a:prstGeom prst="rect">
            <a:avLst/>
          </a:prstGeom>
          <a:noFill/>
        </p:spPr>
        <p:txBody>
          <a:bodyPr wrap="square" lIns="0" tIns="0" rIns="0" bIns="0">
            <a:spAutoFit/>
          </a:bodyPr>
          <a:lstStyle/>
          <a:p>
            <a:pPr>
              <a:defRPr sz="1600" b="1">
                <a:solidFill>
                  <a:srgbClr val="38BDF8"/>
                </a:solidFill>
                <a:latin typeface="Calibri"/>
              </a:defRPr>
            </a:pPr>
            <a:r>
              <a:t>B2B Enterprise SaaS</a:t>
            </a:r>
          </a:p>
          <a:p>
            <a:pPr>
              <a:defRPr sz="1200" b="1">
                <a:solidFill>
                  <a:srgbClr val="F1F5F9"/>
                </a:solidFill>
              </a:defRPr>
            </a:pPr>
            <a:r>
              <a:t>Workforce &amp; Reskilling Intelligence</a:t>
            </a:r>
          </a:p>
          <a:p>
            <a:br/>
            <a:pPr>
              <a:defRPr sz="1100">
                <a:solidFill>
                  <a:srgbClr val="94A3B8"/>
                </a:solidFill>
              </a:defRPr>
            </a:pPr>
            <a:r>
              <a:t>• Target: GCCs, IT Services Giants (TCS, Infosys, Wipro), Tech Scaleups</a:t>
            </a:r>
            <a:br/>
            <a:r>
              <a:t>• Offering: Workforce skill health audits, internal mobility matching, upskilling ROI benchmarks</a:t>
            </a:r>
            <a:br/>
            <a:r>
              <a:t>• ACV: ₹5 Lakh – ₹25 Lakh / year</a:t>
            </a:r>
            <a:br/>
            <a:r>
              <a:t>• Contract: Annual recurring subscription with per-seat volume tiers</a:t>
            </a:r>
          </a:p>
        </p:txBody>
      </p:sp>
      <p:sp>
        <p:nvSpPr>
          <p:cNvPr id="6" name="Rounded Rectangle 5"/>
          <p:cNvSpPr/>
          <p:nvPr/>
        </p:nvSpPr>
        <p:spPr>
          <a:xfrm>
            <a:off x="434340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828800"/>
            <a:ext cx="3063240" cy="4206240"/>
          </a:xfrm>
          <a:prstGeom prst="rect">
            <a:avLst/>
          </a:prstGeom>
          <a:noFill/>
        </p:spPr>
        <p:txBody>
          <a:bodyPr wrap="square" lIns="0" tIns="0" rIns="0" bIns="0">
            <a:spAutoFit/>
          </a:bodyPr>
          <a:lstStyle/>
          <a:p>
            <a:pPr>
              <a:defRPr sz="1600" b="1">
                <a:solidFill>
                  <a:srgbClr val="A855F7"/>
                </a:solidFill>
                <a:latin typeface="Calibri"/>
              </a:defRPr>
            </a:pPr>
            <a:r>
              <a:t>API &amp; Data Licensing</a:t>
            </a:r>
          </a:p>
          <a:p>
            <a:pPr>
              <a:defRPr sz="1200" b="1">
                <a:solidFill>
                  <a:srgbClr val="F1F5F9"/>
                </a:solidFill>
              </a:defRPr>
            </a:pPr>
            <a:r>
              <a:t>Talent Intelligence as a Service</a:t>
            </a:r>
          </a:p>
          <a:p>
            <a:br/>
            <a:pPr>
              <a:defRPr sz="1100">
                <a:solidFill>
                  <a:srgbClr val="94A3B8"/>
                </a:solidFill>
              </a:defRPr>
            </a:pPr>
            <a:r>
              <a:t>• Target: Job Portals (Cutshort, Naukri), ATS Providers, Recruitment Firms</a:t>
            </a:r>
            <a:br/>
            <a:r>
              <a:t>• Offering: Real-time skill scoring APIs, live compensation curve lookups, candidate match scoring</a:t>
            </a:r>
            <a:br/>
            <a:r>
              <a:t>• Model: Usage-based API tiers + Monthly developer retainer (₹50k–₹2L/mo)</a:t>
            </a:r>
          </a:p>
        </p:txBody>
      </p:sp>
      <p:sp>
        <p:nvSpPr>
          <p:cNvPr id="8" name="Rounded Rectangle 7"/>
          <p:cNvSpPr/>
          <p:nvPr/>
        </p:nvSpPr>
        <p:spPr>
          <a:xfrm>
            <a:off x="7955280" y="1645920"/>
            <a:ext cx="34290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828800"/>
            <a:ext cx="3063240" cy="4206240"/>
          </a:xfrm>
          <a:prstGeom prst="rect">
            <a:avLst/>
          </a:prstGeom>
          <a:noFill/>
        </p:spPr>
        <p:txBody>
          <a:bodyPr wrap="square" lIns="0" tIns="0" rIns="0" bIns="0">
            <a:spAutoFit/>
          </a:bodyPr>
          <a:lstStyle/>
          <a:p>
            <a:pPr>
              <a:defRPr sz="1600" b="1">
                <a:solidFill>
                  <a:srgbClr val="10B981"/>
                </a:solidFill>
                <a:latin typeface="Calibri"/>
              </a:defRPr>
            </a:pPr>
            <a:r>
              <a:t>B2C Career Copilot</a:t>
            </a:r>
          </a:p>
          <a:p>
            <a:pPr>
              <a:defRPr sz="1200" b="1">
                <a:solidFill>
                  <a:srgbClr val="F1F5F9"/>
                </a:solidFill>
              </a:defRPr>
            </a:pPr>
            <a:r>
              <a:t>Freemium Individual Pro Tier</a:t>
            </a:r>
          </a:p>
          <a:p>
            <a:br/>
            <a:pPr>
              <a:defRPr sz="1100">
                <a:solidFill>
                  <a:srgbClr val="94A3B8"/>
                </a:solidFill>
              </a:defRPr>
            </a:pPr>
            <a:r>
              <a:t>• Target: Mid-to-senior engineers, career switchers, active job hunters</a:t>
            </a:r>
            <a:br/>
            <a:r>
              <a:t>• Offering: Personal salary hike simulator, resume-to-salary audit, prioritized skill gap roadmap</a:t>
            </a:r>
            <a:br/>
            <a:r>
              <a:t>• Pricing: ₹499 – ₹999 / month or ₹3,999 / year</a:t>
            </a:r>
            <a:br/>
            <a:r>
              <a:t>• High virality driven by peer benchmarking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07 // AROHA INVESTOR PITCH</a:t>
            </a:r>
          </a:p>
          <a:p>
            <a:pPr>
              <a:defRPr sz="2400" b="1">
                <a:solidFill>
                  <a:srgbClr val="F1F5F9"/>
                </a:solidFill>
                <a:latin typeface="Calibri"/>
              </a:defRPr>
            </a:pPr>
            <a:r>
              <a:t>Competitive Moats: Why AROHA Wins</a:t>
            </a:r>
          </a:p>
          <a:p>
            <a:pPr>
              <a:defRPr sz="1200">
                <a:solidFill>
                  <a:srgbClr val="94A3B8"/>
                </a:solidFill>
                <a:latin typeface="Calibri"/>
              </a:defRPr>
            </a:pPr>
            <a:r>
              <a:t>The only neutral, mathematically transparent intelligence layer in the market</a:t>
            </a:r>
          </a:p>
        </p:txBody>
      </p:sp>
      <p:sp>
        <p:nvSpPr>
          <p:cNvPr id="4" name="Rounded Rectangle 3"/>
          <p:cNvSpPr/>
          <p:nvPr/>
        </p:nvSpPr>
        <p:spPr>
          <a:xfrm>
            <a:off x="731520" y="1645920"/>
            <a:ext cx="10728655" cy="448056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62895" cy="4114800"/>
          </a:xfrm>
          <a:prstGeom prst="rect">
            <a:avLst/>
          </a:prstGeom>
          <a:noFill/>
        </p:spPr>
        <p:txBody>
          <a:bodyPr wrap="square" lIns="0" tIns="0" rIns="0" bIns="0">
            <a:spAutoFit/>
          </a:bodyPr>
          <a:lstStyle/>
          <a:p>
            <a:pPr>
              <a:defRPr sz="1600" b="1">
                <a:solidFill>
                  <a:srgbClr val="38BDF8"/>
                </a:solidFill>
                <a:latin typeface="Calibri"/>
              </a:defRPr>
            </a:pPr>
            <a:r>
              <a:t>Competitive Landscape &amp; Moats</a:t>
            </a:r>
          </a:p>
          <a:p>
            <a:pPr>
              <a:defRPr sz="950">
                <a:solidFill>
                  <a:srgbClr val="F1F5F9"/>
                </a:solidFill>
                <a:latin typeface="Consolas"/>
              </a:defRPr>
            </a:pPr>
            <a:r>
              <a:t>DIMENSION                 | SALARY PORTALS (AmbitionBox) | EDTECH (Scaler, UpGrad)     | ENTERPRISE (Eightfold.ai)   | AROHA</a:t>
            </a:r>
            <a:br/>
            <a:r>
              <a:t>--------------------------+------------------------------+-----------------------------+-----------------------------+----------------------------</a:t>
            </a:r>
            <a:br/>
            <a:r>
              <a:t>Valuation Horizon         | Backward-looking (Historical)| Upsell-focused (Biased)     | Internal Enterprise Only    | Real-Time &amp; Predictive</a:t>
            </a:r>
            <a:br/>
            <a:r>
              <a:t>Core Business Model       | Job ads &amp; employer branding  | Sells ₹1.5L–₹3L bootcamps   | $100k+ annual contracts     | Independent Valuation SaaS</a:t>
            </a:r>
            <a:br/>
            <a:r>
              <a:t>Algorithm Transparency    | None (Raw user averages)     | Black-box course quizzes    | Proprietary deep neural net | 100% Explainable Math</a:t>
            </a:r>
            <a:br/>
            <a:r>
              <a:t>Market Grounding          | Unverified user submissions  | Synthetic academic tests    | Proprietary client resumes  | 17,400+ Active Market JDs</a:t>
            </a:r>
            <a:br/>
            <a:r>
              <a:t>Actionable Trajectory     | None                         | 'Buy our course'            | Internal enterprise tracks  | Empirical ROI Roadmap</a:t>
            </a:r>
            <a:br/>
            <a:br/>
            <a:r>
              <a:t>AROHA'S CORE MOATS:</a:t>
            </a:r>
            <a:br/>
            <a:r>
              <a:t>1. Complete Ecosystem Neutrality: We don't sell courses; we provide the objective currency that grades all courses and candidates.</a:t>
            </a:r>
            <a:br/>
            <a:r>
              <a:t>2. Explainable Trust Moat: Mathematical equations that can be defended directly in enterprise compensation committee reviews.</a:t>
            </a:r>
            <a:br/>
            <a:r>
              <a:t>3. Low-Friction REST Architecture: Modular, lightweight deployment in under 48 hours without months of enterprise IT friction.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SLIDE 08 // AROHA INVESTOR PITCH</a:t>
            </a:r>
          </a:p>
          <a:p>
            <a:pPr>
              <a:defRPr sz="2400" b="1">
                <a:solidFill>
                  <a:srgbClr val="F1F5F9"/>
                </a:solidFill>
                <a:latin typeface="Calibri"/>
              </a:defRPr>
            </a:pPr>
            <a:r>
              <a:t>The Ask &amp; 18-Month Execution Plan</a:t>
            </a:r>
          </a:p>
          <a:p>
            <a:pPr>
              <a:defRPr sz="1200">
                <a:solidFill>
                  <a:srgbClr val="94A3B8"/>
                </a:solidFill>
                <a:latin typeface="Calibri"/>
              </a:defRPr>
            </a:pPr>
            <a:r>
              <a:t>Raising Seed Capital to become India's definitive technical talent intelligence layer</a:t>
            </a:r>
          </a:p>
        </p:txBody>
      </p:sp>
      <p:sp>
        <p:nvSpPr>
          <p:cNvPr id="4" name="Rounded Rectangle 3"/>
          <p:cNvSpPr/>
          <p:nvPr/>
        </p:nvSpPr>
        <p:spPr>
          <a:xfrm>
            <a:off x="731520" y="1645920"/>
            <a:ext cx="52578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92040" cy="4206240"/>
          </a:xfrm>
          <a:prstGeom prst="rect">
            <a:avLst/>
          </a:prstGeom>
          <a:noFill/>
        </p:spPr>
        <p:txBody>
          <a:bodyPr wrap="square" lIns="0" tIns="0" rIns="0" bIns="0">
            <a:spAutoFit/>
          </a:bodyPr>
          <a:lstStyle/>
          <a:p>
            <a:pPr>
              <a:defRPr sz="1600" b="1">
                <a:solidFill>
                  <a:srgbClr val="10B981"/>
                </a:solidFill>
                <a:latin typeface="Calibri"/>
              </a:defRPr>
            </a:pPr>
            <a:r>
              <a:t>Seeking $600K (₹5 Crore) Seed Capital</a:t>
            </a:r>
          </a:p>
          <a:p>
            <a:pPr>
              <a:defRPr sz="1100">
                <a:solidFill>
                  <a:srgbClr val="94A3B8"/>
                </a:solidFill>
              </a:defRPr>
            </a:pPr>
            <a:r>
              <a:t>18-Month Runway to Series A Traction</a:t>
            </a:r>
            <a:br/>
            <a:br/>
            <a:r>
              <a:t>Capital Deployment Allocation:</a:t>
            </a:r>
            <a:br/>
            <a:r>
              <a:t>• 50% Engineering &amp; ML Infrastructure:</a:t>
            </a:r>
            <a:br/>
            <a:r>
              <a:t>  - Scale automated scraper pipeline to 500k+ monthly job postings.</a:t>
            </a:r>
            <a:br/>
            <a:r>
              <a:t>  - Deploy automated NLP continuous retraining pipelines.</a:t>
            </a:r>
            <a:br/>
            <a:r>
              <a:t>• 30% Enterprise GTM &amp; Growth:</a:t>
            </a:r>
            <a:br/>
            <a:r>
              <a:t>  - B2B enterprise sales team targeting Bengaluru &amp; Hyderabad GCCs.</a:t>
            </a:r>
            <a:br/>
            <a:r>
              <a:t>  - Strategic distribution pilots with hiring platforms &amp; tech communities.</a:t>
            </a:r>
            <a:br/>
            <a:r>
              <a:t>• 20% Operations, Governance &amp; Security:</a:t>
            </a:r>
            <a:br/>
            <a:r>
              <a:t>  - SOC2, ISO27001 data compliance for enterprise client readiness.</a:t>
            </a:r>
            <a:br/>
            <a:r>
              <a:t>  - Legal and core operating overhead.</a:t>
            </a:r>
          </a:p>
        </p:txBody>
      </p:sp>
      <p:sp>
        <p:nvSpPr>
          <p:cNvPr id="6" name="Rounded Rectangle 5"/>
          <p:cNvSpPr/>
          <p:nvPr/>
        </p:nvSpPr>
        <p:spPr>
          <a:xfrm>
            <a:off x="6172200" y="1645920"/>
            <a:ext cx="5257800" cy="4572000"/>
          </a:xfrm>
          <a:prstGeom prst="roundRect">
            <a:avLst/>
          </a:prstGeom>
          <a:solidFill>
            <a:srgbClr val="162036"/>
          </a:solidFill>
          <a:ln w="15240">
            <a:solidFill>
              <a:srgbClr val="2D3C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828800"/>
            <a:ext cx="4892040" cy="4206240"/>
          </a:xfrm>
          <a:prstGeom prst="rect">
            <a:avLst/>
          </a:prstGeom>
          <a:noFill/>
        </p:spPr>
        <p:txBody>
          <a:bodyPr wrap="square" lIns="0" tIns="0" rIns="0" bIns="0">
            <a:spAutoFit/>
          </a:bodyPr>
          <a:lstStyle/>
          <a:p>
            <a:pPr>
              <a:defRPr sz="1600" b="1">
                <a:solidFill>
                  <a:srgbClr val="38BDF8"/>
                </a:solidFill>
                <a:latin typeface="Calibri"/>
              </a:defRPr>
            </a:pPr>
            <a:r>
              <a:t>18-Month Key Milestones</a:t>
            </a:r>
          </a:p>
          <a:p>
            <a:pPr>
              <a:defRPr sz="1100">
                <a:solidFill>
                  <a:srgbClr val="94A3B8"/>
                </a:solidFill>
              </a:defRPr>
            </a:pPr>
            <a:r>
              <a:t>Q1 – Q2: Platform Scale &amp; Community Beachhead</a:t>
            </a:r>
            <a:br/>
            <a:r>
              <a:t>• Expand market ingestion to 500,000+ active tech job records.</a:t>
            </a:r>
            <a:br/>
            <a:r>
              <a:t>• Launch API pilots with 2 tech recruitment platforms.</a:t>
            </a:r>
            <a:br/>
            <a:r>
              <a:t>• Reach 25,000 monthly active B2C career simulator users.</a:t>
            </a:r>
            <a:br/>
            <a:br/>
            <a:r>
              <a:t>Q3 – Q4: Enterprise Monetization Validation</a:t>
            </a:r>
            <a:br/>
            <a:r>
              <a:t>• Sign first 15 paid enterprise GCC pilots (₹15L avg contract value).</a:t>
            </a:r>
            <a:br/>
            <a:r>
              <a:t>• Roll out self-serve B2C Pro subscription (1,500+ paying subscribers).</a:t>
            </a:r>
            <a:br/>
            <a:r>
              <a:t>• Introduce LLM-driven personalized resume audit engine.</a:t>
            </a:r>
            <a:br/>
            <a:br/>
            <a:r>
              <a:t>Q5 – Q6: Series A Readiness</a:t>
            </a:r>
            <a:br/>
            <a:r>
              <a:t>• Surpass ₹3.5 Crore ($420K) ARR across Enterprise SaaS &amp; API licensing.</a:t>
            </a:r>
            <a:br/>
            <a:r>
              <a:t>• Expand coverage to Southeast Asia &amp; Middle East GCC corridors.</a:t>
            </a:r>
            <a:br/>
            <a:r>
              <a:t>• Initiate Series A institutional financing round.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