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Good morning investors. We are building AROHA. The Indian tech ecosystem employs over 5.4 million engineers, yet both talent and enterprises evaluate skills using 20-year-old, rear-view-mirror methods. AROHA is the objective valuation and intelligence layer that connects what skills are learned to what they are actually worth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Right now, an engineer wanting to know what their skills are worth has two broken options: look at outdated crowd-sourced salary averages, or take an assessment from an EdTech company whose only goal is to sell them an expensive course. For enterprise leaders, it's worse—they are spending millions reskilling thousands of engineers into AI, with zero mathematical proof of market capability. This is the disconnect AROHA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AROHA is an objective intelligence engine. We don't sell courses. We ingest real-world hiring data, canonicalize skills via NLP, and give candidates and employers an explainable 0–100 valuation score and an empirical trajectory simulator showing the shortest, highest-ROI roadmap to the next compensation 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Unlike enterprise platforms that hide behind black-box neural networks, our valuation is 100% mathematically defensible and explainable. Our models are trained on 17,400+ verified tech hiring postings and achieve an 88.6% accuracy in predicting salary hike readiness. The entire pipeline is lightweight, auditable, and production-tested.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The timing couldn't be better. India's GCC ecosystem is expanding rapidly, and every single technology company is facing an urgent mandate: transition legacy software engineers into AI and MLOps. Our initial beachhead is the Indian data science and cloud engineering workforce—a $120M immediate opportunity, scaling into the broader $1.8B digital talent ecosystem.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We monetize through a high-margin enterprise SaaS model selling workforce intelligence to GCCs and IT enterprises, complemented by high-volume API licensing to job portals, and a high-converting B2C freemium tier for ambitious engineers looking to negotiate higher compensation.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AmbitionBox shows where people were. Scaler shows what they want to sell you. Eightfold is an expensive black box. AROHA is the neutral, transparent GPS that sits in the middle as the single source of truth for skill value.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We are raising $600k to expand our data ingestion to over 500,000 records, partner with 2 major tech talent marketplaces, and sign our first 20 enterprise GCC customers. We already have a working, tested product and validated machine learning models. We invite you to join us in building India's definitive talent intelligence infrastructure.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743200"/>
          </a:xfrm>
          <a:prstGeom prst="rect">
            <a:avLst/>
          </a:prstGeom>
          <a:noFill/>
        </p:spPr>
        <p:txBody>
          <a:bodyPr wrap="square">
            <a:spAutoFit/>
          </a:bodyPr>
          <a:lstStyle/>
          <a:p>
            <a:pPr>
              <a:defRPr sz="5600" b="1">
                <a:solidFill>
                  <a:srgbClr val="38BDF8"/>
                </a:solidFill>
                <a:latin typeface="Calibri"/>
              </a:defRPr>
            </a:pPr>
            <a:r>
              <a:t>AROHA</a:t>
            </a:r>
          </a:p>
          <a:p>
            <a:pPr>
              <a:defRPr sz="2800" b="1">
                <a:solidFill>
                  <a:srgbClr val="F1F5F9"/>
                </a:solidFill>
                <a:latin typeface="Calibri"/>
              </a:defRPr>
            </a:pPr>
            <a:r>
              <a:t>The Intelligence &amp; Valuation Layer for Tech Skills</a:t>
            </a:r>
          </a:p>
          <a:p>
            <a:pPr>
              <a:defRPr sz="1600">
                <a:solidFill>
                  <a:srgbClr val="94A3B8"/>
                </a:solidFill>
                <a:latin typeface="Calibri"/>
              </a:defRPr>
            </a:pPr>
            <a:r>
              <a:t>Eliminating speculation in career progression, hiring, and enterprise reskilling.</a:t>
            </a:r>
          </a:p>
        </p:txBody>
      </p:sp>
      <p:sp>
        <p:nvSpPr>
          <p:cNvPr id="4" name="Rounded Rectangle 3"/>
          <p:cNvSpPr/>
          <p:nvPr/>
        </p:nvSpPr>
        <p:spPr>
          <a:xfrm>
            <a:off x="914400" y="4114800"/>
            <a:ext cx="3291840" cy="210312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97680"/>
            <a:ext cx="2926080" cy="1737360"/>
          </a:xfrm>
          <a:prstGeom prst="rect">
            <a:avLst/>
          </a:prstGeom>
          <a:noFill/>
        </p:spPr>
        <p:txBody>
          <a:bodyPr wrap="square" lIns="0" tIns="0" rIns="0" bIns="0">
            <a:spAutoFit/>
          </a:bodyPr>
          <a:lstStyle/>
          <a:p>
            <a:pPr>
              <a:defRPr sz="3200" b="1">
                <a:solidFill>
                  <a:srgbClr val="38BDF8"/>
                </a:solidFill>
              </a:defRPr>
            </a:pPr>
            <a:r>
              <a:t>17,400+</a:t>
            </a:r>
          </a:p>
          <a:p>
            <a:pPr>
              <a:defRPr sz="1400" b="1">
                <a:solidFill>
                  <a:srgbClr val="F1F5F9"/>
                </a:solidFill>
              </a:defRPr>
            </a:pPr>
            <a:r>
              <a:t>Job Postings Benchmark</a:t>
            </a:r>
          </a:p>
          <a:p>
            <a:pPr>
              <a:defRPr sz="1100">
                <a:solidFill>
                  <a:srgbClr val="94A3B8"/>
                </a:solidFill>
              </a:defRPr>
            </a:pPr>
            <a:r>
              <a:t>Canonicalized Indian tech market dataset across all domains</a:t>
            </a:r>
          </a:p>
        </p:txBody>
      </p:sp>
      <p:sp>
        <p:nvSpPr>
          <p:cNvPr id="6" name="Rounded Rectangle 5"/>
          <p:cNvSpPr/>
          <p:nvPr/>
        </p:nvSpPr>
        <p:spPr>
          <a:xfrm>
            <a:off x="4480560" y="4114800"/>
            <a:ext cx="3291840" cy="210312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4297680"/>
            <a:ext cx="2926080" cy="1737360"/>
          </a:xfrm>
          <a:prstGeom prst="rect">
            <a:avLst/>
          </a:prstGeom>
          <a:noFill/>
        </p:spPr>
        <p:txBody>
          <a:bodyPr wrap="square" lIns="0" tIns="0" rIns="0" bIns="0">
            <a:spAutoFit/>
          </a:bodyPr>
          <a:lstStyle/>
          <a:p>
            <a:pPr>
              <a:defRPr sz="3200" b="1">
                <a:solidFill>
                  <a:srgbClr val="10B981"/>
                </a:solidFill>
              </a:defRPr>
            </a:pPr>
            <a:r>
              <a:t>88.6%</a:t>
            </a:r>
          </a:p>
          <a:p>
            <a:pPr>
              <a:defRPr sz="1400" b="1">
                <a:solidFill>
                  <a:srgbClr val="F1F5F9"/>
                </a:solidFill>
              </a:defRPr>
            </a:pPr>
            <a:r>
              <a:t>Salary Hike Accuracy</a:t>
            </a:r>
          </a:p>
          <a:p>
            <a:pPr>
              <a:defRPr sz="1100">
                <a:solidFill>
                  <a:srgbClr val="94A3B8"/>
                </a:solidFill>
              </a:defRPr>
            </a:pPr>
            <a:r>
              <a:t>Supervised ML predicting salary hike readiness from skill vectors</a:t>
            </a:r>
          </a:p>
        </p:txBody>
      </p:sp>
      <p:sp>
        <p:nvSpPr>
          <p:cNvPr id="8" name="Rounded Rectangle 7"/>
          <p:cNvSpPr/>
          <p:nvPr/>
        </p:nvSpPr>
        <p:spPr>
          <a:xfrm>
            <a:off x="8046720" y="4114800"/>
            <a:ext cx="3291840" cy="210312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4297680"/>
            <a:ext cx="2926080" cy="1737360"/>
          </a:xfrm>
          <a:prstGeom prst="rect">
            <a:avLst/>
          </a:prstGeom>
          <a:noFill/>
        </p:spPr>
        <p:txBody>
          <a:bodyPr wrap="square" lIns="0" tIns="0" rIns="0" bIns="0">
            <a:spAutoFit/>
          </a:bodyPr>
          <a:lstStyle/>
          <a:p>
            <a:pPr>
              <a:defRPr sz="3200" b="1">
                <a:solidFill>
                  <a:srgbClr val="A855F7"/>
                </a:solidFill>
              </a:defRPr>
            </a:pPr>
            <a:r>
              <a:t>SkillPulse™</a:t>
            </a:r>
          </a:p>
          <a:p>
            <a:pPr>
              <a:defRPr sz="1400" b="1">
                <a:solidFill>
                  <a:srgbClr val="F1F5F9"/>
                </a:solidFill>
              </a:defRPr>
            </a:pPr>
            <a:r>
              <a:t>0–100 Valuation Index</a:t>
            </a:r>
          </a:p>
          <a:p>
            <a:pPr>
              <a:defRPr sz="1100">
                <a:solidFill>
                  <a:srgbClr val="94A3B8"/>
                </a:solidFill>
              </a:defRPr>
            </a:pPr>
            <a:r>
              <a:t>Objective, explainable score calculating real compensation 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02 // AROHA INVESTOR PITCH</a:t>
            </a:r>
          </a:p>
          <a:p>
            <a:pPr>
              <a:defRPr sz="2400" b="1">
                <a:solidFill>
                  <a:srgbClr val="F1F5F9"/>
                </a:solidFill>
                <a:latin typeface="Calibri"/>
              </a:defRPr>
            </a:pPr>
            <a:r>
              <a:t>The Trillion-Dollar Disconnect in Technical Talent</a:t>
            </a:r>
          </a:p>
          <a:p>
            <a:pPr>
              <a:defRPr sz="1200">
                <a:solidFill>
                  <a:srgbClr val="94A3B8"/>
                </a:solidFill>
                <a:latin typeface="Calibri"/>
              </a:defRPr>
            </a:pPr>
            <a:r>
              <a:t>Three structural failure points paralyzing modern career and workforce decisions</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F59E0B"/>
                </a:solidFill>
                <a:latin typeface="Calibri"/>
              </a:defRPr>
            </a:pPr>
            <a:r>
              <a:t>1. The Rear-View Mirror Trap</a:t>
            </a:r>
          </a:p>
          <a:p>
            <a:pPr>
              <a:defRPr sz="1200" b="1">
                <a:solidFill>
                  <a:srgbClr val="F1F5F9"/>
                </a:solidFill>
              </a:defRPr>
            </a:pPr>
            <a:r>
              <a:t>Salary Portals (AmbitionBox, Glassdoor)</a:t>
            </a:r>
          </a:p>
          <a:p>
            <a:pPr>
              <a:defRPr sz="1100">
                <a:solidFill>
                  <a:srgbClr val="94A3B8"/>
                </a:solidFill>
              </a:defRPr>
            </a:pPr>
            <a:r>
              <a:t>• Historical averages reflect where people WERE 2-3 years ago, not what skills are worth TODAY.</a:t>
            </a:r>
            <a:br/>
            <a:r>
              <a:t>• Purely crowd-sourced with zero validation against active market postings.</a:t>
            </a:r>
            <a:br/>
            <a:r>
              <a:t>• Incapable of answering: 'If I learn PyTorch, what is my exact salary upside?'</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2. The Incentive Conflict</a:t>
            </a:r>
          </a:p>
          <a:p>
            <a:pPr>
              <a:defRPr sz="1200" b="1">
                <a:solidFill>
                  <a:srgbClr val="F1F5F9"/>
                </a:solidFill>
              </a:defRPr>
            </a:pPr>
            <a:r>
              <a:t>EdTech Giants (Scaler, UpGrad, Coursera)</a:t>
            </a:r>
          </a:p>
          <a:p>
            <a:pPr>
              <a:defRPr sz="1100">
                <a:solidFill>
                  <a:srgbClr val="94A3B8"/>
                </a:solidFill>
              </a:defRPr>
            </a:pPr>
            <a:r>
              <a:t>• Assessments exist solely as top-of-funnel lead generation to sell ₹1.5L–₹3L bootcamps.</a:t>
            </a:r>
            <a:br/>
            <a:r>
              <a:t>• Severe conflict of interest: platforms grade users down to sell courses.</a:t>
            </a:r>
            <a:br/>
            <a:r>
              <a:t>• Course completion certificates &amp; badges carry zero quantifiable market salary signal.</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3. Enterprise Reskilling Blind Spot</a:t>
            </a:r>
          </a:p>
          <a:p>
            <a:pPr>
              <a:defRPr sz="1200" b="1">
                <a:solidFill>
                  <a:srgbClr val="F1F5F9"/>
                </a:solidFill>
              </a:defRPr>
            </a:pPr>
            <a:r>
              <a:t>GCCs &amp; Global IT Enterprises</a:t>
            </a:r>
          </a:p>
          <a:p>
            <a:pPr>
              <a:defRPr sz="1100">
                <a:solidFill>
                  <a:srgbClr val="94A3B8"/>
                </a:solidFill>
              </a:defRPr>
            </a:pPr>
            <a:r>
              <a:t>• Companies spending billions retraining thousands into AI, MLOps, and Cloud.</a:t>
            </a:r>
            <a:br/>
            <a:r>
              <a:t>• Completely blind to workforce skill readiness and true market capability.</a:t>
            </a:r>
            <a:br/>
            <a:r>
              <a:t>• Zero empirical metric to evaluate whether L&amp;D budgets generate real organizational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03 // AROHA INVESTOR PITCH</a:t>
            </a:r>
          </a:p>
          <a:p>
            <a:pPr>
              <a:defRPr sz="2400" b="1">
                <a:solidFill>
                  <a:srgbClr val="F1F5F9"/>
                </a:solidFill>
                <a:latin typeface="Calibri"/>
              </a:defRPr>
            </a:pPr>
            <a:r>
              <a:t>AROHA: Objective, Empirical Skill Intelligence</a:t>
            </a:r>
          </a:p>
          <a:p>
            <a:pPr>
              <a:defRPr sz="1200">
                <a:solidFill>
                  <a:srgbClr val="94A3B8"/>
                </a:solidFill>
                <a:latin typeface="Calibri"/>
              </a:defRPr>
            </a:pPr>
            <a:r>
              <a:t>Replacing speculation and marketing with transparent mathematical valuation</a:t>
            </a:r>
          </a:p>
        </p:txBody>
      </p:sp>
      <p:sp>
        <p:nvSpPr>
          <p:cNvPr id="4" name="Rounded Rectangle 3"/>
          <p:cNvSpPr/>
          <p:nvPr/>
        </p:nvSpPr>
        <p:spPr>
          <a:xfrm>
            <a:off x="731520" y="1645920"/>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92040" cy="1783080"/>
          </a:xfrm>
          <a:prstGeom prst="rect">
            <a:avLst/>
          </a:prstGeom>
          <a:noFill/>
        </p:spPr>
        <p:txBody>
          <a:bodyPr wrap="square" lIns="0" tIns="0" rIns="0" bIns="0">
            <a:spAutoFit/>
          </a:bodyPr>
          <a:lstStyle/>
          <a:p>
            <a:pPr>
              <a:defRPr sz="1600" b="1">
                <a:solidFill>
                  <a:srgbClr val="38BDF8"/>
                </a:solidFill>
                <a:latin typeface="Calibri"/>
              </a:defRPr>
            </a:pPr>
            <a:r>
              <a:t>SkillPulse™ Valuation Index (0–100)</a:t>
            </a:r>
          </a:p>
          <a:p>
            <a:pPr>
              <a:defRPr sz="1200">
                <a:solidFill>
                  <a:srgbClr val="94A3B8"/>
                </a:solidFill>
              </a:defRPr>
            </a:pPr>
            <a:r>
              <a:t>Transparent mathematical score measuring Market Demand, Versatility across tech roles, and direct Salary Signal Uplift.</a:t>
            </a:r>
          </a:p>
        </p:txBody>
      </p:sp>
      <p:sp>
        <p:nvSpPr>
          <p:cNvPr id="6" name="Rounded Rectangle 5"/>
          <p:cNvSpPr/>
          <p:nvPr/>
        </p:nvSpPr>
        <p:spPr>
          <a:xfrm>
            <a:off x="6172200" y="1645920"/>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828800"/>
            <a:ext cx="4892040" cy="1783080"/>
          </a:xfrm>
          <a:prstGeom prst="rect">
            <a:avLst/>
          </a:prstGeom>
          <a:noFill/>
        </p:spPr>
        <p:txBody>
          <a:bodyPr wrap="square" lIns="0" tIns="0" rIns="0" bIns="0">
            <a:spAutoFit/>
          </a:bodyPr>
          <a:lstStyle/>
          <a:p>
            <a:pPr>
              <a:defRPr sz="1600" b="1">
                <a:solidFill>
                  <a:srgbClr val="10B981"/>
                </a:solidFill>
                <a:latin typeface="Calibri"/>
              </a:defRPr>
            </a:pPr>
            <a:r>
              <a:t>Continuous Empirical Salary Curves</a:t>
            </a:r>
          </a:p>
          <a:p>
            <a:pPr>
              <a:defRPr sz="1200">
                <a:solidFill>
                  <a:srgbClr val="94A3B8"/>
                </a:solidFill>
              </a:defRPr>
            </a:pPr>
            <a:r>
              <a:t>Real-world salary benchmarks across 5 experience levels (₹3.8L entry baseline up to ₹26.2L+ lead roles) grounded in active market data.</a:t>
            </a:r>
          </a:p>
        </p:txBody>
      </p:sp>
      <p:sp>
        <p:nvSpPr>
          <p:cNvPr id="8" name="Rounded Rectangle 7"/>
          <p:cNvSpPr/>
          <p:nvPr/>
        </p:nvSpPr>
        <p:spPr>
          <a:xfrm>
            <a:off x="731520" y="3977639"/>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19"/>
            <a:ext cx="4892040" cy="1783080"/>
          </a:xfrm>
          <a:prstGeom prst="rect">
            <a:avLst/>
          </a:prstGeom>
          <a:noFill/>
        </p:spPr>
        <p:txBody>
          <a:bodyPr wrap="square" lIns="0" tIns="0" rIns="0" bIns="0">
            <a:spAutoFit/>
          </a:bodyPr>
          <a:lstStyle/>
          <a:p>
            <a:pPr>
              <a:defRPr sz="1600" b="1">
                <a:solidFill>
                  <a:srgbClr val="A855F7"/>
                </a:solidFill>
                <a:latin typeface="Calibri"/>
              </a:defRPr>
            </a:pPr>
            <a:r>
              <a:t>Supervised ML Career Prediction (88.6%)</a:t>
            </a:r>
          </a:p>
          <a:p>
            <a:pPr>
              <a:defRPr sz="1200">
                <a:solidFill>
                  <a:srgbClr val="94A3B8"/>
                </a:solidFill>
              </a:defRPr>
            </a:pPr>
            <a:r>
              <a:t>Predictive classification algorithms showing exact probability of securing a higher compensation band based on competency vectors.</a:t>
            </a:r>
          </a:p>
        </p:txBody>
      </p:sp>
      <p:sp>
        <p:nvSpPr>
          <p:cNvPr id="10" name="Rounded Rectangle 9"/>
          <p:cNvSpPr/>
          <p:nvPr/>
        </p:nvSpPr>
        <p:spPr>
          <a:xfrm>
            <a:off x="6172200" y="3977639"/>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160519"/>
            <a:ext cx="4892040" cy="1783080"/>
          </a:xfrm>
          <a:prstGeom prst="rect">
            <a:avLst/>
          </a:prstGeom>
          <a:noFill/>
        </p:spPr>
        <p:txBody>
          <a:bodyPr wrap="square" lIns="0" tIns="0" rIns="0" bIns="0">
            <a:spAutoFit/>
          </a:bodyPr>
          <a:lstStyle/>
          <a:p>
            <a:pPr>
              <a:defRPr sz="1600" b="1">
                <a:solidFill>
                  <a:srgbClr val="F59E0B"/>
                </a:solidFill>
                <a:latin typeface="Calibri"/>
              </a:defRPr>
            </a:pPr>
            <a:r>
              <a:t>Dynamic Skill Gap &amp; Priority Radar</a:t>
            </a:r>
          </a:p>
          <a:p>
            <a:pPr>
              <a:defRPr sz="1200">
                <a:solidFill>
                  <a:srgbClr val="94A3B8"/>
                </a:solidFill>
              </a:defRPr>
            </a:pPr>
            <a:r>
              <a:t>Personalized roadmap ranking missing competencies by highest compensation ROI, market velocity, and learning difficulty.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04 // AROHA INVESTOR PITCH</a:t>
            </a:r>
          </a:p>
          <a:p>
            <a:pPr>
              <a:defRPr sz="2400" b="1">
                <a:solidFill>
                  <a:srgbClr val="F1F5F9"/>
                </a:solidFill>
                <a:latin typeface="Calibri"/>
              </a:defRPr>
            </a:pPr>
            <a:r>
              <a:t>Under The Hood: Explainable AI &amp; Mathematical Rigor</a:t>
            </a:r>
          </a:p>
          <a:p>
            <a:pPr>
              <a:defRPr sz="1200">
                <a:solidFill>
                  <a:srgbClr val="94A3B8"/>
                </a:solidFill>
                <a:latin typeface="Calibri"/>
              </a:defRPr>
            </a:pPr>
            <a:r>
              <a:t>Validated on 17,400+ job records with 100% explainable algorithms</a:t>
            </a:r>
          </a:p>
        </p:txBody>
      </p:sp>
      <p:sp>
        <p:nvSpPr>
          <p:cNvPr id="4" name="Rounded Rectangle 3"/>
          <p:cNvSpPr/>
          <p:nvPr/>
        </p:nvSpPr>
        <p:spPr>
          <a:xfrm>
            <a:off x="731520" y="1645920"/>
            <a:ext cx="52578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92040" cy="4206240"/>
          </a:xfrm>
          <a:prstGeom prst="rect">
            <a:avLst/>
          </a:prstGeom>
          <a:noFill/>
        </p:spPr>
        <p:txBody>
          <a:bodyPr wrap="square" lIns="0" tIns="0" rIns="0" bIns="0">
            <a:spAutoFit/>
          </a:bodyPr>
          <a:lstStyle/>
          <a:p>
            <a:pPr>
              <a:defRPr sz="1600" b="1">
                <a:solidFill>
                  <a:srgbClr val="38BDF8"/>
                </a:solidFill>
                <a:latin typeface="Calibri"/>
              </a:defRPr>
            </a:pPr>
            <a:r>
              <a:t>The SkillPulse™ Formula</a:t>
            </a:r>
          </a:p>
          <a:p>
            <a:pPr>
              <a:defRPr sz="1300" b="1">
                <a:solidFill>
                  <a:srgbClr val="10B981"/>
                </a:solidFill>
              </a:defRPr>
            </a:pPr>
            <a:r>
              <a:t>SkillPulse = 0.35(Demand) + 0.25(Versatility) + 0.25(Salary) + 0.15(Frontier)</a:t>
            </a:r>
          </a:p>
          <a:p>
            <a:br/>
            <a:pPr>
              <a:defRPr sz="1100">
                <a:solidFill>
                  <a:srgbClr val="94A3B8"/>
                </a:solidFill>
              </a:defRPr>
            </a:pPr>
            <a:r>
              <a:t>• Demand (35%): Frequency and hiring urgency across 17,400+ active tech postings.</a:t>
            </a:r>
            <a:br/>
            <a:r>
              <a:t>• Versatility (25%): Transferability across cross-domain roles (Backend, ML, Cloud, Full-stack).</a:t>
            </a:r>
            <a:br/>
            <a:r>
              <a:t>• Salary Signal (25%): Statistically isolated compensation premium over base salary.</a:t>
            </a:r>
            <a:br/>
            <a:r>
              <a:t>• Frontier Tech (15%): Emerging AI/LLM/Distributed systems signals shaping future demand.</a:t>
            </a:r>
            <a:br/>
            <a:br/>
            <a:r>
              <a:t>Zero Black-Box: Fully auditable, defensible before HR compensation committees.</a:t>
            </a:r>
          </a:p>
        </p:txBody>
      </p:sp>
      <p:sp>
        <p:nvSpPr>
          <p:cNvPr id="6" name="Rounded Rectangle 5"/>
          <p:cNvSpPr/>
          <p:nvPr/>
        </p:nvSpPr>
        <p:spPr>
          <a:xfrm>
            <a:off x="6172200" y="1645920"/>
            <a:ext cx="52578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828800"/>
            <a:ext cx="4892040" cy="4206240"/>
          </a:xfrm>
          <a:prstGeom prst="rect">
            <a:avLst/>
          </a:prstGeom>
          <a:noFill/>
        </p:spPr>
        <p:txBody>
          <a:bodyPr wrap="square" lIns="0" tIns="0" rIns="0" bIns="0">
            <a:spAutoFit/>
          </a:bodyPr>
          <a:lstStyle/>
          <a:p>
            <a:pPr>
              <a:defRPr sz="1600" b="1">
                <a:solidFill>
                  <a:srgbClr val="A855F7"/>
                </a:solidFill>
                <a:latin typeface="Calibri"/>
              </a:defRPr>
            </a:pPr>
            <a:r>
              <a:t>Supervised ML &amp; System Specs</a:t>
            </a:r>
          </a:p>
          <a:p>
            <a:pPr>
              <a:defRPr sz="1100">
                <a:solidFill>
                  <a:srgbClr val="94A3B8"/>
                </a:solidFill>
              </a:defRPr>
            </a:pPr>
            <a:r>
              <a:t>Supervised Career Hike Prediction:</a:t>
            </a:r>
            <a:br/>
            <a:r>
              <a:t>• Logistic Regression (L2): 88.6% Accuracy | 0.889 F1-Score</a:t>
            </a:r>
            <a:br/>
            <a:r>
              <a:t>• Random Forest Classifier: 85.7% Accuracy</a:t>
            </a:r>
            <a:br/>
            <a:r>
              <a:t>• Key Insight: Math/Statistics (+1.398 weight) and AI/ML competencies provide 3.2x higher salary boost than syntax-only frameworks.</a:t>
            </a:r>
            <a:br/>
            <a:br/>
            <a:r>
              <a:t>Production Stack &amp; Readiness:</a:t>
            </a:r>
            <a:br/>
            <a:r>
              <a:t>• FastAPI High-Performance Asynchronous REST API</a:t>
            </a:r>
            <a:br/>
            <a:r>
              <a:t>• SQLite Benchmark Store with indexed query response &lt; 25ms</a:t>
            </a:r>
            <a:br/>
            <a:r>
              <a:t>• 31 Automated Integration Tests passing with 100% coverage</a:t>
            </a:r>
            <a:br/>
            <a:r>
              <a:t>• Air-gapped NLP Canonicalizer: Standardizes messy tech titles without external API costs.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05 // AROHA INVESTOR PITCH</a:t>
            </a:r>
          </a:p>
          <a:p>
            <a:pPr>
              <a:defRPr sz="2400" b="1">
                <a:solidFill>
                  <a:srgbClr val="F1F5F9"/>
                </a:solidFill>
                <a:latin typeface="Calibri"/>
              </a:defRPr>
            </a:pPr>
            <a:r>
              <a:t>Massive Addressable Market Fueled by AI Transformation</a:t>
            </a:r>
          </a:p>
          <a:p>
            <a:pPr>
              <a:defRPr sz="1200">
                <a:solidFill>
                  <a:srgbClr val="94A3B8"/>
                </a:solidFill>
                <a:latin typeface="Calibri"/>
              </a:defRPr>
            </a:pPr>
            <a:r>
              <a:t>Riding the tectonic shift in technical hiring and enterprise AI adoption</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TAM: $6.2 Billion</a:t>
            </a:r>
          </a:p>
          <a:p>
            <a:pPr>
              <a:defRPr sz="1300" b="1">
                <a:solidFill>
                  <a:srgbClr val="F1F5F9"/>
                </a:solidFill>
              </a:defRPr>
            </a:pPr>
            <a:r>
              <a:t>Global Workforce Analytics &amp; Talent Intelligence</a:t>
            </a:r>
          </a:p>
          <a:p>
            <a:br/>
            <a:pPr>
              <a:defRPr sz="1100">
                <a:solidFill>
                  <a:srgbClr val="94A3B8"/>
                </a:solidFill>
              </a:defRPr>
            </a:pPr>
            <a:r>
              <a:t>16.4% CAGR globally as enterprises shift away from static job descriptions to skills-based organizations.</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10B981"/>
                </a:solidFill>
                <a:latin typeface="Calibri"/>
              </a:defRPr>
            </a:pPr>
            <a:r>
              <a:t>SAM: $1.8 Billion</a:t>
            </a:r>
          </a:p>
          <a:p>
            <a:pPr>
              <a:defRPr sz="1300" b="1">
                <a:solidFill>
                  <a:srgbClr val="F1F5F9"/>
                </a:solidFill>
              </a:defRPr>
            </a:pPr>
            <a:r>
              <a:t>Indian Tech Workforce &amp; Corporate Reskilling</a:t>
            </a:r>
          </a:p>
          <a:p>
            <a:br/>
            <a:pPr>
              <a:defRPr sz="1100">
                <a:solidFill>
                  <a:srgbClr val="94A3B8"/>
                </a:solidFill>
              </a:defRPr>
            </a:pPr>
            <a:r>
              <a:t>5.4M active IT engineers; 1,580+ Global Capability Centers (GCCs) in India navigating mandatory GenAI transitions.</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SOM: $120 Million</a:t>
            </a:r>
          </a:p>
          <a:p>
            <a:pPr>
              <a:defRPr sz="1300" b="1">
                <a:solidFill>
                  <a:srgbClr val="F1F5F9"/>
                </a:solidFill>
              </a:defRPr>
            </a:pPr>
            <a:r>
              <a:t>Initial Beachhead (Data, AI &amp; Cloud Roles)</a:t>
            </a:r>
          </a:p>
          <a:p>
            <a:br/>
            <a:pPr>
              <a:defRPr sz="1100">
                <a:solidFill>
                  <a:srgbClr val="94A3B8"/>
                </a:solidFill>
              </a:defRPr>
            </a:pPr>
            <a:r>
              <a:t>Targeting 450,000+ data science, cloud, and AI practitioners across Tier-1 tech hubs (Bengaluru, Hyderabad, Pune, NCR).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06 // AROHA INVESTOR PITCH</a:t>
            </a:r>
          </a:p>
          <a:p>
            <a:pPr>
              <a:defRPr sz="2400" b="1">
                <a:solidFill>
                  <a:srgbClr val="F1F5F9"/>
                </a:solidFill>
                <a:latin typeface="Calibri"/>
              </a:defRPr>
            </a:pPr>
            <a:r>
              <a:t>Three High-Margin, Complementary Revenue Engines</a:t>
            </a:r>
          </a:p>
          <a:p>
            <a:pPr>
              <a:defRPr sz="1200">
                <a:solidFill>
                  <a:srgbClr val="94A3B8"/>
                </a:solidFill>
                <a:latin typeface="Calibri"/>
              </a:defRPr>
            </a:pPr>
            <a:r>
              <a:t>Diversified monetization spanning high-ACV enterprise SaaS to programmatic API licensing</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B2B Enterprise SaaS</a:t>
            </a:r>
          </a:p>
          <a:p>
            <a:pPr>
              <a:defRPr sz="1200" b="1">
                <a:solidFill>
                  <a:srgbClr val="F1F5F9"/>
                </a:solidFill>
              </a:defRPr>
            </a:pPr>
            <a:r>
              <a:t>Workforce &amp; Reskilling Intelligence</a:t>
            </a:r>
          </a:p>
          <a:p>
            <a:br/>
            <a:pPr>
              <a:defRPr sz="1100">
                <a:solidFill>
                  <a:srgbClr val="94A3B8"/>
                </a:solidFill>
              </a:defRPr>
            </a:pPr>
            <a:r>
              <a:t>• Target: GCCs, IT Services Giants (TCS, Infosys, Wipro), Tech Scaleups</a:t>
            </a:r>
            <a:br/>
            <a:r>
              <a:t>• Offering: Workforce skill health audits, internal mobility matching, upskilling ROI benchmarks</a:t>
            </a:r>
            <a:br/>
            <a:r>
              <a:t>• ACV: ₹5 Lakh – ₹25 Lakh / year</a:t>
            </a:r>
            <a:br/>
            <a:r>
              <a:t>• Contract: Annual recurring subscription with per-seat volume tiers</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API &amp; Data Licensing</a:t>
            </a:r>
          </a:p>
          <a:p>
            <a:pPr>
              <a:defRPr sz="1200" b="1">
                <a:solidFill>
                  <a:srgbClr val="F1F5F9"/>
                </a:solidFill>
              </a:defRPr>
            </a:pPr>
            <a:r>
              <a:t>Talent Intelligence as a Service</a:t>
            </a:r>
          </a:p>
          <a:p>
            <a:br/>
            <a:pPr>
              <a:defRPr sz="1100">
                <a:solidFill>
                  <a:srgbClr val="94A3B8"/>
                </a:solidFill>
              </a:defRPr>
            </a:pPr>
            <a:r>
              <a:t>• Target: Job Portals (Cutshort, Naukri), ATS Providers, Recruitment Firms</a:t>
            </a:r>
            <a:br/>
            <a:r>
              <a:t>• Offering: Real-time skill scoring APIs, live compensation curve lookups, candidate match scoring</a:t>
            </a:r>
            <a:br/>
            <a:r>
              <a:t>• Model: Usage-based API tiers + Monthly developer retainer (₹50k–₹2L/mo)</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10B981"/>
                </a:solidFill>
                <a:latin typeface="Calibri"/>
              </a:defRPr>
            </a:pPr>
            <a:r>
              <a:t>B2C Career Copilot</a:t>
            </a:r>
          </a:p>
          <a:p>
            <a:pPr>
              <a:defRPr sz="1200" b="1">
                <a:solidFill>
                  <a:srgbClr val="F1F5F9"/>
                </a:solidFill>
              </a:defRPr>
            </a:pPr>
            <a:r>
              <a:t>Freemium Individual Pro Tier</a:t>
            </a:r>
          </a:p>
          <a:p>
            <a:br/>
            <a:pPr>
              <a:defRPr sz="1100">
                <a:solidFill>
                  <a:srgbClr val="94A3B8"/>
                </a:solidFill>
              </a:defRPr>
            </a:pPr>
            <a:r>
              <a:t>• Target: Mid-to-senior engineers, career switchers, active job hunters</a:t>
            </a:r>
            <a:br/>
            <a:r>
              <a:t>• Offering: Personal salary hike simulator, resume-to-salary audit, prioritized skill gap roadmap</a:t>
            </a:r>
            <a:br/>
            <a:r>
              <a:t>• Pricing: ₹499 – ₹999 / month or ₹3,999 / year</a:t>
            </a:r>
            <a:br/>
            <a:r>
              <a:t>• High virality driven by peer benchmarking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07 // AROHA INVESTOR PITCH</a:t>
            </a:r>
          </a:p>
          <a:p>
            <a:pPr>
              <a:defRPr sz="2400" b="1">
                <a:solidFill>
                  <a:srgbClr val="F1F5F9"/>
                </a:solidFill>
                <a:latin typeface="Calibri"/>
              </a:defRPr>
            </a:pPr>
            <a:r>
              <a:t>Competitive Moats: Why AROHA Wins</a:t>
            </a:r>
          </a:p>
          <a:p>
            <a:pPr>
              <a:defRPr sz="1200">
                <a:solidFill>
                  <a:srgbClr val="94A3B8"/>
                </a:solidFill>
                <a:latin typeface="Calibri"/>
              </a:defRPr>
            </a:pPr>
            <a:r>
              <a:t>The only neutral, mathematically transparent intelligence layer in the market</a:t>
            </a:r>
          </a:p>
        </p:txBody>
      </p:sp>
      <p:sp>
        <p:nvSpPr>
          <p:cNvPr id="4" name="Rounded Rectangle 3"/>
          <p:cNvSpPr/>
          <p:nvPr/>
        </p:nvSpPr>
        <p:spPr>
          <a:xfrm>
            <a:off x="731520" y="1645920"/>
            <a:ext cx="10728655" cy="448056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62895" cy="4114800"/>
          </a:xfrm>
          <a:prstGeom prst="rect">
            <a:avLst/>
          </a:prstGeom>
          <a:noFill/>
        </p:spPr>
        <p:txBody>
          <a:bodyPr wrap="square" lIns="0" tIns="0" rIns="0" bIns="0">
            <a:spAutoFit/>
          </a:bodyPr>
          <a:lstStyle/>
          <a:p>
            <a:pPr>
              <a:defRPr sz="1600" b="1">
                <a:solidFill>
                  <a:srgbClr val="38BDF8"/>
                </a:solidFill>
                <a:latin typeface="Calibri"/>
              </a:defRPr>
            </a:pPr>
            <a:r>
              <a:t>Competitive Landscape &amp; Moats</a:t>
            </a:r>
          </a:p>
          <a:p>
            <a:pPr>
              <a:defRPr sz="950">
                <a:solidFill>
                  <a:srgbClr val="F1F5F9"/>
                </a:solidFill>
                <a:latin typeface="Consolas"/>
              </a:defRPr>
            </a:pPr>
            <a:r>
              <a:t>DIMENSION                 | SALARY PORTALS (AmbitionBox) | EDTECH (Scaler, UpGrad)     | ENTERPRISE (Eightfold.ai)   | AROHA</a:t>
            </a:r>
            <a:br/>
            <a:r>
              <a:t>--------------------------+------------------------------+-----------------------------+-----------------------------+----------------------------</a:t>
            </a:r>
            <a:br/>
            <a:r>
              <a:t>Valuation Horizon         | Backward-looking (Historical)| Upsell-focused (Biased)     | Internal Enterprise Only    | Real-Time &amp; Predictive</a:t>
            </a:r>
            <a:br/>
            <a:r>
              <a:t>Core Business Model       | Job ads &amp; employer branding  | Sells ₹1.5L–₹3L bootcamps   | $100k+ annual contracts     | Independent Valuation SaaS</a:t>
            </a:r>
            <a:br/>
            <a:r>
              <a:t>Algorithm Transparency    | None (Raw user averages)     | Black-box course quizzes    | Proprietary deep neural net | 100% Explainable Math</a:t>
            </a:r>
            <a:br/>
            <a:r>
              <a:t>Market Grounding          | Unverified user submissions  | Synthetic academic tests    | Proprietary client resumes  | 17,400+ Active Market JDs</a:t>
            </a:r>
            <a:br/>
            <a:r>
              <a:t>Actionable Trajectory     | None                         | 'Buy our course'            | Internal enterprise tracks  | Empirical ROI Roadmap</a:t>
            </a:r>
            <a:br/>
            <a:br/>
            <a:r>
              <a:t>AROHA'S CORE MOATS:</a:t>
            </a:r>
            <a:br/>
            <a:r>
              <a:t>1. Complete Ecosystem Neutrality: We don't sell courses; we provide the objective currency that grades all courses and candidates.</a:t>
            </a:r>
            <a:br/>
            <a:r>
              <a:t>2. Explainable Trust Moat: Mathematical equations that can be defended directly in enterprise compensation committee reviews.</a:t>
            </a:r>
            <a:br/>
            <a:r>
              <a:t>3. Low-Friction REST Architecture: Modular, lightweight deployment in under 48 hours without months of enterprise IT friction.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08 // AROHA INVESTOR PITCH</a:t>
            </a:r>
          </a:p>
          <a:p>
            <a:pPr>
              <a:defRPr sz="2400" b="1">
                <a:solidFill>
                  <a:srgbClr val="F1F5F9"/>
                </a:solidFill>
                <a:latin typeface="Calibri"/>
              </a:defRPr>
            </a:pPr>
            <a:r>
              <a:t>The Ask &amp; 18-Month Execution Plan</a:t>
            </a:r>
          </a:p>
          <a:p>
            <a:pPr>
              <a:defRPr sz="1200">
                <a:solidFill>
                  <a:srgbClr val="94A3B8"/>
                </a:solidFill>
                <a:latin typeface="Calibri"/>
              </a:defRPr>
            </a:pPr>
            <a:r>
              <a:t>Raising Seed Capital to become India's definitive technical talent intelligence layer</a:t>
            </a:r>
          </a:p>
        </p:txBody>
      </p:sp>
      <p:sp>
        <p:nvSpPr>
          <p:cNvPr id="4" name="Rounded Rectangle 3"/>
          <p:cNvSpPr/>
          <p:nvPr/>
        </p:nvSpPr>
        <p:spPr>
          <a:xfrm>
            <a:off x="731520" y="1645920"/>
            <a:ext cx="52578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92040" cy="4206240"/>
          </a:xfrm>
          <a:prstGeom prst="rect">
            <a:avLst/>
          </a:prstGeom>
          <a:noFill/>
        </p:spPr>
        <p:txBody>
          <a:bodyPr wrap="square" lIns="0" tIns="0" rIns="0" bIns="0">
            <a:spAutoFit/>
          </a:bodyPr>
          <a:lstStyle/>
          <a:p>
            <a:pPr>
              <a:defRPr sz="1600" b="1">
                <a:solidFill>
                  <a:srgbClr val="10B981"/>
                </a:solidFill>
                <a:latin typeface="Calibri"/>
              </a:defRPr>
            </a:pPr>
            <a:r>
              <a:t>Seeking $600K (₹5 Crore) Seed Capital</a:t>
            </a:r>
          </a:p>
          <a:p>
            <a:pPr>
              <a:defRPr sz="1100">
                <a:solidFill>
                  <a:srgbClr val="94A3B8"/>
                </a:solidFill>
              </a:defRPr>
            </a:pPr>
            <a:r>
              <a:t>18-Month Runway to Series A Traction</a:t>
            </a:r>
            <a:br/>
            <a:br/>
            <a:r>
              <a:t>Capital Deployment Allocation:</a:t>
            </a:r>
            <a:br/>
            <a:r>
              <a:t>• 50% Engineering &amp; ML Infrastructure:</a:t>
            </a:r>
            <a:br/>
            <a:r>
              <a:t>  - Scale automated scraper pipeline to 500k+ monthly job postings.</a:t>
            </a:r>
            <a:br/>
            <a:r>
              <a:t>  - Deploy automated NLP continuous retraining pipelines.</a:t>
            </a:r>
            <a:br/>
            <a:r>
              <a:t>• 30% Enterprise GTM &amp; Growth:</a:t>
            </a:r>
            <a:br/>
            <a:r>
              <a:t>  - B2B enterprise sales team targeting Bengaluru &amp; Hyderabad GCCs.</a:t>
            </a:r>
            <a:br/>
            <a:r>
              <a:t>  - Strategic distribution pilots with hiring platforms &amp; tech communities.</a:t>
            </a:r>
            <a:br/>
            <a:r>
              <a:t>• 20% Operations, Governance &amp; Security:</a:t>
            </a:r>
            <a:br/>
            <a:r>
              <a:t>  - SOC2, ISO27001 data compliance for enterprise client readiness.</a:t>
            </a:r>
            <a:br/>
            <a:r>
              <a:t>  - Legal and core operating overhead.</a:t>
            </a:r>
          </a:p>
        </p:txBody>
      </p:sp>
      <p:sp>
        <p:nvSpPr>
          <p:cNvPr id="6" name="Rounded Rectangle 5"/>
          <p:cNvSpPr/>
          <p:nvPr/>
        </p:nvSpPr>
        <p:spPr>
          <a:xfrm>
            <a:off x="6172200" y="1645920"/>
            <a:ext cx="52578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828800"/>
            <a:ext cx="4892040" cy="4206240"/>
          </a:xfrm>
          <a:prstGeom prst="rect">
            <a:avLst/>
          </a:prstGeom>
          <a:noFill/>
        </p:spPr>
        <p:txBody>
          <a:bodyPr wrap="square" lIns="0" tIns="0" rIns="0" bIns="0">
            <a:spAutoFit/>
          </a:bodyPr>
          <a:lstStyle/>
          <a:p>
            <a:pPr>
              <a:defRPr sz="1600" b="1">
                <a:solidFill>
                  <a:srgbClr val="38BDF8"/>
                </a:solidFill>
                <a:latin typeface="Calibri"/>
              </a:defRPr>
            </a:pPr>
            <a:r>
              <a:t>18-Month Key Milestones</a:t>
            </a:r>
          </a:p>
          <a:p>
            <a:pPr>
              <a:defRPr sz="1100">
                <a:solidFill>
                  <a:srgbClr val="94A3B8"/>
                </a:solidFill>
              </a:defRPr>
            </a:pPr>
            <a:r>
              <a:t>Q1 – Q2: Platform Scale &amp; Community Beachhead</a:t>
            </a:r>
            <a:br/>
            <a:r>
              <a:t>• Expand market ingestion to 500,000+ active tech job records.</a:t>
            </a:r>
            <a:br/>
            <a:r>
              <a:t>• Launch API pilots with 2 tech recruitment platforms.</a:t>
            </a:r>
            <a:br/>
            <a:r>
              <a:t>• Reach 25,000 monthly active B2C career simulator users.</a:t>
            </a:r>
            <a:br/>
            <a:br/>
            <a:r>
              <a:t>Q3 – Q4: Enterprise Monetization Validation</a:t>
            </a:r>
            <a:br/>
            <a:r>
              <a:t>• Sign first 15 paid enterprise GCC pilots (₹15L avg contract value).</a:t>
            </a:r>
            <a:br/>
            <a:r>
              <a:t>• Roll out self-serve B2C Pro subscription (1,500+ paying subscribers).</a:t>
            </a:r>
            <a:br/>
            <a:r>
              <a:t>• Introduce LLM-driven personalized resume audit engine.</a:t>
            </a:r>
            <a:br/>
            <a:br/>
            <a:r>
              <a:t>Q5 – Q6: Series A Readiness</a:t>
            </a:r>
            <a:br/>
            <a:r>
              <a:t>• Surpass ₹3.5 Crore ($420K) ARR across Enterprise SaaS &amp; API licensing.</a:t>
            </a:r>
            <a:br/>
            <a:r>
              <a:t>• Expand coverage to Southeast Asia &amp; Middle East GCC corridors.</a:t>
            </a:r>
            <a:br/>
            <a:r>
              <a:t>• Initiate Series A institutional financing round.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